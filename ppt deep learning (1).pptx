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731520"/>
            <a:ext cx="73152" cy="1417320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" y="731520"/>
            <a:ext cx="73152" cy="1417320"/>
          </a:xfrm>
          <a:prstGeom prst="rect">
            <a:avLst/>
          </a:prstGeom>
          <a:solidFill>
            <a:srgbClr val="37C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50976" y="731520"/>
            <a:ext cx="73152" cy="1417320"/>
          </a:xfrm>
          <a:prstGeom prst="rect">
            <a:avLst/>
          </a:prstGeom>
          <a:solidFill>
            <a:srgbClr val="F1B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914400"/>
            <a:ext cx="987552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F7F9FC"/>
                </a:solidFill>
                <a:latin typeface="Aptos Display"/>
              </a:defRPr>
            </a:pPr>
            <a:r>
              <a:t>FACE MASK DETECTION</a:t>
            </a:r>
            <a:br/>
            <a:r>
              <a:t>USING CNN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487168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8BDD6"/>
                </a:solidFill>
              </a:defRPr>
            </a:pPr>
            <a:r>
              <a:t>Deep Learning Mini Project  |  CS722T2C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0432" y="3337560"/>
            <a:ext cx="4663440" cy="141732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0432" y="3337560"/>
            <a:ext cx="50292" cy="1417320"/>
          </a:xfrm>
          <a:prstGeom prst="rect">
            <a:avLst/>
          </a:prstGeom>
          <a:solidFill>
            <a:srgbClr val="37C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3474720"/>
            <a:ext cx="4343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7F9FC"/>
                </a:solidFill>
              </a:defRPr>
            </a:pPr>
            <a:r>
              <a:t>PROJECT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3867911"/>
            <a:ext cx="4343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D7E1EE"/>
                </a:solidFill>
              </a:defRPr>
            </a:pPr>
            <a:r>
              <a:t>Amaresha K  •  4SF23CS016</a:t>
            </a:r>
            <a:br/>
            <a:r>
              <a:t>Aryan NB  •  4SF23CS036</a:t>
            </a:r>
            <a:br/>
            <a:r>
              <a:t>Ganesh Gond  •  4SF23CS067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3337560"/>
            <a:ext cx="4663440" cy="141732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3337560"/>
            <a:ext cx="50292" cy="1417320"/>
          </a:xfrm>
          <a:prstGeom prst="rect">
            <a:avLst/>
          </a:prstGeom>
          <a:solidFill>
            <a:srgbClr val="F1B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3474720"/>
            <a:ext cx="4343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7F9FC"/>
                </a:solidFill>
              </a:defRPr>
            </a:pPr>
            <a:r>
              <a:t>GUIDED 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3867911"/>
            <a:ext cx="4343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D7E1EE"/>
                </a:solidFill>
              </a:defRPr>
            </a:pPr>
            <a:r>
              <a:t>Ms. Shiji Abraham</a:t>
            </a:r>
            <a:br/>
            <a:r>
              <a:t>Assistant Professor, Department of CSE</a:t>
            </a:r>
            <a:br/>
            <a:r>
              <a:t>Sahyadri College of Engineering &amp;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65760"/>
            <a:ext cx="502920" cy="54864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12064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0584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1A2B7"/>
                </a:solidFill>
              </a:defRPr>
            </a:pPr>
            <a:r>
              <a:t>A concise view of the problem, solution and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5029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D6"/>
                </a:solidFill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1874519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0292" cy="1874519"/>
          </a:xfrm>
          <a:prstGeom prst="rect">
            <a:avLst/>
          </a:prstGeom>
          <a:solidFill>
            <a:srgbClr val="E85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5544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7F9FC"/>
                </a:solidFill>
              </a:defRPr>
            </a:pPr>
            <a: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947672"/>
            <a:ext cx="320040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7E1EE"/>
                </a:solidFill>
              </a:defRPr>
            </a:pPr>
            <a:r>
              <a:t>Manual monitoring of mask compliance is labour intensive, inconsistent and difficult to scale across crowded public spaces.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520440" cy="1874519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50292" cy="1874519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5544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7F9FC"/>
                </a:solidFill>
              </a:defRPr>
            </a:pPr>
            <a: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947672"/>
            <a:ext cx="320040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7E1EE"/>
                </a:solidFill>
              </a:defRPr>
            </a:pPr>
            <a:r>
              <a:t>A computer-vision pipeline detects faces and classifies mask status from images or live video.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520440" cy="1874519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50292" cy="1874519"/>
          </a:xfrm>
          <a:prstGeom prst="rect">
            <a:avLst/>
          </a:prstGeom>
          <a:solidFill>
            <a:srgbClr val="37C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5544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7F9FC"/>
                </a:solidFill>
              </a:defRPr>
            </a:pPr>
            <a:r>
              <a:t>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947672"/>
            <a:ext cx="320040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7E1EE"/>
                </a:solidFill>
              </a:defRPr>
            </a:pPr>
            <a:r>
              <a:t>The report records 98.2% accuracy with strong precision, recall and F1-score.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886200"/>
            <a:ext cx="2103120" cy="384048"/>
          </a:xfrm>
          <a:prstGeom prst="round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941063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8101D"/>
                </a:solidFill>
              </a:defRPr>
            </a:pPr>
            <a:r>
              <a:t>IMAGE INPUT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3886200"/>
            <a:ext cx="2103120" cy="384048"/>
          </a:xfrm>
          <a:prstGeom prst="roundRect">
            <a:avLst/>
          </a:prstGeom>
          <a:solidFill>
            <a:srgbClr val="37C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3941063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8101D"/>
                </a:solidFill>
              </a:defRPr>
            </a:pPr>
            <a:r>
              <a:t>FACE DETECTION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32120" y="3886200"/>
            <a:ext cx="2103120" cy="384048"/>
          </a:xfrm>
          <a:prstGeom prst="roundRect">
            <a:avLst/>
          </a:prstGeom>
          <a:solidFill>
            <a:srgbClr val="F1B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32120" y="3941063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8101D"/>
                </a:solidFill>
              </a:defRPr>
            </a:pPr>
            <a:r>
              <a:t>CNN CLASSIFICATION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18120" y="3886200"/>
            <a:ext cx="2103120" cy="384048"/>
          </a:xfrm>
          <a:prstGeom prst="roundRect">
            <a:avLst/>
          </a:prstGeom>
          <a:solidFill>
            <a:srgbClr val="37C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20" y="3941063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8101D"/>
                </a:solidFill>
              </a:defRPr>
            </a:pPr>
            <a:r>
              <a:t>REAL-TIME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617720"/>
            <a:ext cx="10241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D7E1EE"/>
                </a:solidFill>
              </a:defRPr>
            </a:pPr>
            <a:r>
              <a:t>Supports with-mask, without-mask and optionally incorrectly-worn-mask classification.</a:t>
            </a:r>
          </a:p>
          <a:p>
            <a:pPr>
              <a:spcAft>
                <a:spcPts val="900"/>
              </a:spcAft>
              <a:defRPr sz="1300">
                <a:solidFill>
                  <a:srgbClr val="D7E1EE"/>
                </a:solidFill>
              </a:defRPr>
            </a:pPr>
            <a:r>
              <a:t>Designed for practical entry-point, surveillance and public-safety use cases.</a:t>
            </a:r>
          </a:p>
          <a:p>
            <a:pPr>
              <a:spcAft>
                <a:spcPts val="900"/>
              </a:spcAft>
              <a:defRPr sz="1300">
                <a:solidFill>
                  <a:srgbClr val="D7E1EE"/>
                </a:solidFill>
              </a:defRPr>
            </a:pPr>
            <a:r>
              <a:t>Built with open-source Python, TensorFlow/Keras and OpenCV technologies.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1A2B7"/>
                </a:solidFill>
              </a:defRPr>
            </a:pPr>
            <a:r>
              <a:t>FACE MASK DETECTION USING CNN  •  SAHYADRI COLLEGE OF ENGINEERING &amp;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65760"/>
            <a:ext cx="502920" cy="54864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12064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 Display"/>
              </a:defRPr>
            </a:pPr>
            <a:r>
              <a:t>Motivation &amp;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0584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1A2B7"/>
                </a:solidFill>
              </a:defRPr>
            </a:pPr>
            <a:r>
              <a:t>Why automation is useful for mask-compliance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5029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D6"/>
                </a:solidFill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3474720" cy="324612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0292" cy="3246120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508760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7F9FC"/>
                </a:solidFill>
              </a:defRPr>
            </a:pPr>
            <a:r>
              <a:t>01 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901952"/>
            <a:ext cx="3154679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7E1EE"/>
                </a:solidFill>
              </a:defRPr>
            </a:pPr>
            <a:r>
              <a:t>Manual checking becomes difficult when many people must be monitored simultaneously across multiple locations.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71600"/>
            <a:ext cx="3474720" cy="324612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71600"/>
            <a:ext cx="50292" cy="3246120"/>
          </a:xfrm>
          <a:prstGeom prst="rect">
            <a:avLst/>
          </a:prstGeom>
          <a:solidFill>
            <a:srgbClr val="37C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508760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7F9FC"/>
                </a:solidFill>
              </a:defRPr>
            </a:pPr>
            <a:r>
              <a:t>02  CONSISTENCY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901952"/>
            <a:ext cx="3154679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7E1EE"/>
                </a:solidFill>
              </a:defRPr>
            </a:pPr>
            <a:r>
              <a:t>An automated visual system can apply the same classification process continuously rather than relying on repeated manual checks.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474720" cy="324612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371600"/>
            <a:ext cx="50292" cy="3246120"/>
          </a:xfrm>
          <a:prstGeom prst="rect">
            <a:avLst/>
          </a:prstGeom>
          <a:solidFill>
            <a:srgbClr val="F1B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508760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7F9FC"/>
                </a:solidFill>
              </a:defRPr>
            </a:pPr>
            <a:r>
              <a:t>03  CONTACTLESS OPERATION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901952"/>
            <a:ext cx="3154679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7E1EE"/>
                </a:solidFill>
              </a:defRPr>
            </a:pPr>
            <a:r>
              <a:t>Computer vision can reduce direct interaction during compliance monitoring and can integrate with existing infrastructure.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1A2B7"/>
                </a:solidFill>
              </a:defRPr>
            </a:pPr>
            <a:r>
              <a:t>FACE MASK DETECTION USING CNN  •  SAHYADRI COLLEGE OF ENGINEERING &amp;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65760"/>
            <a:ext cx="502920" cy="54864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12064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 Display"/>
              </a:defRPr>
            </a:pPr>
            <a:r>
              <a:t>Problem Statement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0584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1A2B7"/>
                </a:solidFill>
              </a:defRPr>
            </a:pPr>
            <a:r>
              <a:t>What the project is designed to achieve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5029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D6"/>
                </a:solidFill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94960" cy="196596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0292" cy="1965960"/>
          </a:xfrm>
          <a:prstGeom prst="rect">
            <a:avLst/>
          </a:prstGeom>
          <a:solidFill>
            <a:srgbClr val="E85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63039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7F9FC"/>
                </a:solidFill>
              </a:defRPr>
            </a:pPr>
            <a: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856231"/>
            <a:ext cx="5074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7E1EE"/>
                </a:solidFill>
              </a:defRPr>
            </a:pPr>
            <a:r>
              <a:t>There is a need for an automated visual monitoring system that can process video feeds and flag individuals who are not wearing a mask or are wearing it incorrectly.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303520" cy="196596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50292" cy="1965960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463039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7F9FC"/>
                </a:solidFill>
              </a:defRPr>
            </a:pPr>
            <a:r>
              <a:t>PROJECT AIM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856231"/>
            <a:ext cx="4983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7E1EE"/>
                </a:solidFill>
              </a:defRPr>
            </a:pPr>
            <a:r>
              <a:t>Design and implement a CNN-based system that detects faces and classifies mask status in real time with sufficient accuracy and low latency.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65760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D7E1EE"/>
                </a:solidFill>
              </a:defRPr>
            </a:pPr>
            <a:r>
              <a:t>Collect and preprocess a labelled face-mask dataset.</a:t>
            </a:r>
          </a:p>
          <a:p>
            <a:pPr>
              <a:spcAft>
                <a:spcPts val="900"/>
              </a:spcAft>
              <a:defRPr sz="1400">
                <a:solidFill>
                  <a:srgbClr val="D7E1EE"/>
                </a:solidFill>
              </a:defRPr>
            </a:pPr>
            <a:r>
              <a:t>Train a CNN / transfer-learning classifier.</a:t>
            </a:r>
          </a:p>
          <a:p>
            <a:pPr>
              <a:spcAft>
                <a:spcPts val="900"/>
              </a:spcAft>
              <a:defRPr sz="1400">
                <a:solidFill>
                  <a:srgbClr val="D7E1EE"/>
                </a:solidFill>
              </a:defRPr>
            </a:pPr>
            <a:r>
              <a:t>Integrate face detection with the trained classifier.</a:t>
            </a:r>
          </a:p>
          <a:p>
            <a:pPr>
              <a:spcAft>
                <a:spcPts val="900"/>
              </a:spcAft>
              <a:defRPr sz="1400">
                <a:solidFill>
                  <a:srgbClr val="D7E1EE"/>
                </a:solidFill>
              </a:defRPr>
            </a:pPr>
            <a:r>
              <a:t>Enable real-time detection through OpenCV.</a:t>
            </a:r>
          </a:p>
          <a:p>
            <a:pPr>
              <a:spcAft>
                <a:spcPts val="900"/>
              </a:spcAft>
              <a:defRPr sz="1400">
                <a:solidFill>
                  <a:srgbClr val="D7E1EE"/>
                </a:solidFill>
              </a:defRPr>
            </a:pPr>
            <a:r>
              <a:t>Evaluate accuracy, precision, recall, F1-score and confusion matrix.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1A2B7"/>
                </a:solidFill>
              </a:defRPr>
            </a:pPr>
            <a:r>
              <a:t>FACE MASK DETECTION USING CNN  •  SAHYADRI COLLEGE OF ENGINEERING &amp;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65760"/>
            <a:ext cx="502920" cy="54864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12064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 Display"/>
              </a:defRPr>
            </a:pPr>
            <a:r>
              <a:t>Literature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0584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1A2B7"/>
                </a:solidFill>
              </a:defRPr>
            </a:pPr>
            <a:r>
              <a:t>Selected approaches discussed in the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5029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D6"/>
                </a:solidFill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520440" cy="141732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0292" cy="1417320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63039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7F9FC"/>
                </a:solidFill>
              </a:defRPr>
            </a:pPr>
            <a:r>
              <a:t>TRANSFER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856231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D7E1EE"/>
                </a:solidFill>
              </a:defRPr>
            </a:pPr>
            <a:r>
              <a:t>ResNet50 and InceptionV3 have been explored for mask classification.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25880"/>
            <a:ext cx="3520440" cy="141732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25880"/>
            <a:ext cx="50292" cy="1417320"/>
          </a:xfrm>
          <a:prstGeom prst="rect">
            <a:avLst/>
          </a:prstGeom>
          <a:solidFill>
            <a:srgbClr val="37C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463039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7F9FC"/>
                </a:solidFill>
              </a:defRPr>
            </a:pPr>
            <a:r>
              <a:t>REAL-TIME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856231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D7E1EE"/>
                </a:solidFill>
              </a:defRPr>
            </a:pPr>
            <a:r>
              <a:t>CNN, SSD and MobileNetV2 combinations target practical real-time systems.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25880"/>
            <a:ext cx="3520440" cy="141732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325880"/>
            <a:ext cx="50292" cy="1417320"/>
          </a:xfrm>
          <a:prstGeom prst="rect">
            <a:avLst/>
          </a:prstGeom>
          <a:solidFill>
            <a:srgbClr val="F1B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463039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7F9FC"/>
                </a:solidFill>
              </a:defRPr>
            </a:pPr>
            <a:r>
              <a:t>OBJECT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856231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D7E1EE"/>
                </a:solidFill>
              </a:defRPr>
            </a:pPr>
            <a:r>
              <a:t>RetinaFace Mask and YOLOv5 target fast detection, including crowded scenes.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063240"/>
            <a:ext cx="3520440" cy="141732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063240"/>
            <a:ext cx="50292" cy="1417320"/>
          </a:xfrm>
          <a:prstGeom prst="rect">
            <a:avLst/>
          </a:prstGeom>
          <a:solidFill>
            <a:srgbClr val="E85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32004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7F9FC"/>
                </a:solidFill>
              </a:defRPr>
            </a:pPr>
            <a:r>
              <a:t>DATASETS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3593592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D7E1EE"/>
                </a:solidFill>
              </a:defRPr>
            </a:pPr>
            <a:r>
              <a:t>RMFRD, SMFRD and other public datasets support masked/unmasked face learning.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063240"/>
            <a:ext cx="3520440" cy="141732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3063240"/>
            <a:ext cx="50292" cy="1417320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07992" y="32004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7F9FC"/>
                </a:solidFill>
              </a:defRPr>
            </a:pPr>
            <a:r>
              <a:t>LIGHTWEIGHT 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7992" y="3593592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D7E1EE"/>
                </a:solidFill>
              </a:defRPr>
            </a:pPr>
            <a:r>
              <a:t>The report highlights MobileNetV2 because of its low computational footprint.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063240"/>
            <a:ext cx="3520440" cy="141732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063240"/>
            <a:ext cx="50292" cy="1417320"/>
          </a:xfrm>
          <a:prstGeom prst="rect">
            <a:avLst/>
          </a:prstGeom>
          <a:solidFill>
            <a:srgbClr val="37C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32004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7F9FC"/>
                </a:solidFill>
              </a:defRPr>
            </a:pPr>
            <a:r>
              <a:t>PROJECT DIRECTION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3593592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D7E1EE"/>
                </a:solidFill>
              </a:defRPr>
            </a:pPr>
            <a:r>
              <a:t>A two-stage approach is used: face localization followed by mask-status classification.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98348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7E1EE"/>
                </a:solidFill>
              </a:defRPr>
            </a:pPr>
            <a:r>
              <a:t>Key takeaway from the survey: practical systems increasingly combine fast face detection with lightweight deep-learning classification.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1A2B7"/>
                </a:solidFill>
              </a:defRPr>
            </a:pPr>
            <a:r>
              <a:t>FACE MASK DETECTION USING CNN  •  SAHYADRI COLLEGE OF ENGINEERING &amp;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65760"/>
            <a:ext cx="502920" cy="54864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12064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 Display"/>
              </a:defRPr>
            </a:pPr>
            <a:r>
              <a:t>Proposed System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0584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1A2B7"/>
                </a:solidFill>
              </a:defRPr>
            </a:pPr>
            <a:r>
              <a:t>End-to-end process used by 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5029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D6"/>
                </a:solidFill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2057400" cy="182880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50292" cy="1828800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96596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7F9FC"/>
                </a:solidFill>
              </a:defRPr>
            </a:pPr>
            <a:r>
              <a:t>01 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359152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7E1EE"/>
                </a:solidFill>
              </a:defRPr>
            </a:pPr>
            <a:r>
              <a:t>Image / webcam frame</a:t>
            </a:r>
          </a:p>
        </p:txBody>
      </p:sp>
      <p:sp>
        <p:nvSpPr>
          <p:cNvPr id="11" name="Chevron 10"/>
          <p:cNvSpPr/>
          <p:nvPr/>
        </p:nvSpPr>
        <p:spPr>
          <a:xfrm>
            <a:off x="2596896" y="2450592"/>
            <a:ext cx="228600" cy="502920"/>
          </a:xfrm>
          <a:prstGeom prst="chevron">
            <a:avLst/>
          </a:prstGeom>
          <a:solidFill>
            <a:srgbClr val="91A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39" y="1828800"/>
            <a:ext cx="2057400" cy="182880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39" y="1828800"/>
            <a:ext cx="50292" cy="1828800"/>
          </a:xfrm>
          <a:prstGeom prst="rect">
            <a:avLst/>
          </a:prstGeom>
          <a:solidFill>
            <a:srgbClr val="37C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9232" y="196596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7F9FC"/>
                </a:solidFill>
              </a:defRPr>
            </a:pPr>
            <a:r>
              <a:t>02  FACE LOCALIZATION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359152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7E1EE"/>
                </a:solidFill>
              </a:defRPr>
            </a:pPr>
            <a:r>
              <a:t>Haar Cascade / MTCNN</a:t>
            </a:r>
          </a:p>
        </p:txBody>
      </p:sp>
      <p:sp>
        <p:nvSpPr>
          <p:cNvPr id="16" name="Chevron 15"/>
          <p:cNvSpPr/>
          <p:nvPr/>
        </p:nvSpPr>
        <p:spPr>
          <a:xfrm>
            <a:off x="4928616" y="2450592"/>
            <a:ext cx="228600" cy="502920"/>
          </a:xfrm>
          <a:prstGeom prst="chevron">
            <a:avLst/>
          </a:prstGeom>
          <a:solidFill>
            <a:srgbClr val="91A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66359" y="1828800"/>
            <a:ext cx="2057400" cy="182880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66359" y="1828800"/>
            <a:ext cx="50292" cy="1828800"/>
          </a:xfrm>
          <a:prstGeom prst="rect">
            <a:avLst/>
          </a:prstGeom>
          <a:solidFill>
            <a:srgbClr val="F1B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0951" y="196596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7F9FC"/>
                </a:solidFill>
              </a:defRPr>
            </a:pPr>
            <a:r>
              <a:t>03  PREPROCESSING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1" y="2359152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7E1EE"/>
                </a:solidFill>
              </a:defRPr>
            </a:pPr>
            <a:r>
              <a:t>Crop, resize, normalize</a:t>
            </a:r>
          </a:p>
        </p:txBody>
      </p:sp>
      <p:sp>
        <p:nvSpPr>
          <p:cNvPr id="21" name="Chevron 20"/>
          <p:cNvSpPr/>
          <p:nvPr/>
        </p:nvSpPr>
        <p:spPr>
          <a:xfrm>
            <a:off x="7260336" y="2450592"/>
            <a:ext cx="228600" cy="502920"/>
          </a:xfrm>
          <a:prstGeom prst="chevron">
            <a:avLst/>
          </a:prstGeom>
          <a:solidFill>
            <a:srgbClr val="91A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98079" y="1828800"/>
            <a:ext cx="2057400" cy="182880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79" y="1828800"/>
            <a:ext cx="50292" cy="1828800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62671" y="196596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7F9FC"/>
                </a:solidFill>
              </a:defRPr>
            </a:pPr>
            <a:r>
              <a:t>04  CLASSIFICATION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1" y="2359152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7E1EE"/>
                </a:solidFill>
              </a:defRPr>
            </a:pPr>
            <a:r>
              <a:t>CNN / transfer learning</a:t>
            </a:r>
          </a:p>
        </p:txBody>
      </p:sp>
      <p:sp>
        <p:nvSpPr>
          <p:cNvPr id="26" name="Chevron 25"/>
          <p:cNvSpPr/>
          <p:nvPr/>
        </p:nvSpPr>
        <p:spPr>
          <a:xfrm>
            <a:off x="9592055" y="2450592"/>
            <a:ext cx="228600" cy="502920"/>
          </a:xfrm>
          <a:prstGeom prst="chevron">
            <a:avLst/>
          </a:prstGeom>
          <a:solidFill>
            <a:srgbClr val="91A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829800" y="1828800"/>
            <a:ext cx="2057400" cy="182880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29800" y="1828800"/>
            <a:ext cx="50292" cy="1828800"/>
          </a:xfrm>
          <a:prstGeom prst="rect">
            <a:avLst/>
          </a:prstGeom>
          <a:solidFill>
            <a:srgbClr val="37C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94392" y="196596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7F9FC"/>
                </a:solidFill>
              </a:defRPr>
            </a:pPr>
            <a:r>
              <a:t>05  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94392" y="2359152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7E1EE"/>
                </a:solidFill>
              </a:defRPr>
            </a:pPr>
            <a:r>
              <a:t>Label + confidence + box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20240" y="4251960"/>
            <a:ext cx="2240280" cy="384048"/>
          </a:xfrm>
          <a:prstGeom prst="roundRect">
            <a:avLst/>
          </a:prstGeom>
          <a:solidFill>
            <a:srgbClr val="37C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20240" y="4306824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8101D"/>
                </a:solidFill>
              </a:defRPr>
            </a:pPr>
            <a:r>
              <a:t>WITH MASK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83480" y="4251960"/>
            <a:ext cx="2240280" cy="384048"/>
          </a:xfrm>
          <a:prstGeom prst="roundRect">
            <a:avLst/>
          </a:prstGeom>
          <a:solidFill>
            <a:srgbClr val="E85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83480" y="4306824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8101D"/>
                </a:solidFill>
              </a:defRPr>
            </a:pPr>
            <a:r>
              <a:t>WITHOUT MASK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1A2B7"/>
                </a:solidFill>
              </a:defRPr>
            </a:pPr>
            <a:r>
              <a:t>FACE MASK DETECTION USING CNN  •  SAHYADRI COLLEGE OF ENGINEERING &amp;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90" y="0"/>
            <a:ext cx="12191695" cy="6858000"/>
          </a:xfrm>
          <a:prstGeom prst="rect">
            <a:avLst/>
          </a:prstGeom>
          <a:solidFill>
            <a:srgbClr val="081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65760"/>
            <a:ext cx="502920" cy="54864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12064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 Display"/>
              </a:defRPr>
            </a:pPr>
            <a:r>
              <a:t>Dataset &amp;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0584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1A2B7"/>
                </a:solidFill>
              </a:defRPr>
            </a:pPr>
            <a:r>
              <a:t>Preparing consistent inputs for supervised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5029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D6"/>
                </a:solidFill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474720" cy="196596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0292" cy="1965960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63039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7F9FC"/>
                </a:solidFill>
              </a:defRPr>
            </a:pPr>
            <a:r>
              <a:t>DATA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856231"/>
            <a:ext cx="3154679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7E1EE"/>
                </a:solidFill>
              </a:defRPr>
            </a:pPr>
            <a:r>
              <a:t>The public face-mask datasets such as Kaggle Face Mask Detection, Masked Face-Net and RMFD.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25880"/>
            <a:ext cx="3474720" cy="196596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25880"/>
            <a:ext cx="50292" cy="1965960"/>
          </a:xfrm>
          <a:prstGeom prst="rect">
            <a:avLst/>
          </a:prstGeom>
          <a:solidFill>
            <a:srgbClr val="37C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463039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7F9FC"/>
                </a:solidFill>
              </a:defRPr>
            </a:pPr>
            <a:r>
              <a:t>DATA 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856231"/>
            <a:ext cx="315467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7E1EE"/>
                </a:solidFill>
              </a:defRPr>
            </a:pPr>
            <a:r>
              <a:t>Approximately 80% training, 10% validation and 10% testing, with class balance maintained or addressed.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25880"/>
            <a:ext cx="3474720" cy="196596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325880"/>
            <a:ext cx="50292" cy="1965960"/>
          </a:xfrm>
          <a:prstGeom prst="rect">
            <a:avLst/>
          </a:prstGeom>
          <a:solidFill>
            <a:srgbClr val="F1B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463039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7F9FC"/>
                </a:solidFill>
              </a:defRPr>
            </a:pPr>
            <a:r>
              <a:t>PREPROCESSING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856231"/>
            <a:ext cx="315467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7E1EE"/>
                </a:solidFill>
              </a:defRPr>
            </a:pPr>
            <a:r>
              <a:t>Images are resized, normalized to [0,1] and augmented using rotation, zoom, horizontal flip and shear.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977639"/>
            <a:ext cx="1691640" cy="658368"/>
          </a:xfrm>
          <a:prstGeom prst="roundRect">
            <a:avLst/>
          </a:prstGeom>
          <a:solidFill>
            <a:srgbClr val="17263D"/>
          </a:solidFill>
          <a:ln>
            <a:solidFill>
              <a:srgbClr val="38B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160520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7F9FC"/>
                </a:solidFill>
              </a:defRPr>
            </a:pPr>
            <a:r>
              <a:t>RAW IMAGE</a:t>
            </a:r>
          </a:p>
        </p:txBody>
      </p:sp>
      <p:sp>
        <p:nvSpPr>
          <p:cNvPr id="21" name="Chevron 20"/>
          <p:cNvSpPr/>
          <p:nvPr/>
        </p:nvSpPr>
        <p:spPr>
          <a:xfrm>
            <a:off x="2587752" y="4169663"/>
            <a:ext cx="256032" cy="292608"/>
          </a:xfrm>
          <a:prstGeom prst="chevron">
            <a:avLst/>
          </a:prstGeom>
          <a:solidFill>
            <a:srgbClr val="91A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063239" y="3977639"/>
            <a:ext cx="1691640" cy="658368"/>
          </a:xfrm>
          <a:prstGeom prst="roundRect">
            <a:avLst/>
          </a:prstGeom>
          <a:solidFill>
            <a:srgbClr val="17263D"/>
          </a:solidFill>
          <a:ln>
            <a:solidFill>
              <a:srgbClr val="37C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63239" y="4160520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7F9FC"/>
                </a:solidFill>
              </a:defRPr>
            </a:pPr>
            <a:r>
              <a:t>RESIZE</a:t>
            </a:r>
          </a:p>
        </p:txBody>
      </p:sp>
      <p:sp>
        <p:nvSpPr>
          <p:cNvPr id="24" name="Chevron 23"/>
          <p:cNvSpPr/>
          <p:nvPr/>
        </p:nvSpPr>
        <p:spPr>
          <a:xfrm>
            <a:off x="4782312" y="4169663"/>
            <a:ext cx="256032" cy="292608"/>
          </a:xfrm>
          <a:prstGeom prst="chevron">
            <a:avLst/>
          </a:prstGeom>
          <a:solidFill>
            <a:srgbClr val="91A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257800" y="3977639"/>
            <a:ext cx="1691640" cy="658368"/>
          </a:xfrm>
          <a:prstGeom prst="roundRect">
            <a:avLst/>
          </a:prstGeom>
          <a:solidFill>
            <a:srgbClr val="17263D"/>
          </a:solidFill>
          <a:ln>
            <a:solidFill>
              <a:srgbClr val="F1B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4160520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7F9FC"/>
                </a:solidFill>
              </a:defRPr>
            </a:pPr>
            <a:r>
              <a:t>NORMALIZE</a:t>
            </a:r>
          </a:p>
        </p:txBody>
      </p:sp>
      <p:sp>
        <p:nvSpPr>
          <p:cNvPr id="27" name="Chevron 26"/>
          <p:cNvSpPr/>
          <p:nvPr/>
        </p:nvSpPr>
        <p:spPr>
          <a:xfrm>
            <a:off x="6976872" y="4169663"/>
            <a:ext cx="256032" cy="292608"/>
          </a:xfrm>
          <a:prstGeom prst="chevron">
            <a:avLst/>
          </a:prstGeom>
          <a:solidFill>
            <a:srgbClr val="91A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52359" y="3977639"/>
            <a:ext cx="1691640" cy="658368"/>
          </a:xfrm>
          <a:prstGeom prst="roundRect">
            <a:avLst/>
          </a:prstGeom>
          <a:solidFill>
            <a:srgbClr val="17263D"/>
          </a:solidFill>
          <a:ln>
            <a:solidFill>
              <a:srgbClr val="38B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59" y="4160520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7F9FC"/>
                </a:solidFill>
              </a:defRPr>
            </a:pPr>
            <a:r>
              <a:t>AUGMENT</a:t>
            </a:r>
          </a:p>
        </p:txBody>
      </p:sp>
      <p:sp>
        <p:nvSpPr>
          <p:cNvPr id="30" name="Chevron 29"/>
          <p:cNvSpPr/>
          <p:nvPr/>
        </p:nvSpPr>
        <p:spPr>
          <a:xfrm>
            <a:off x="9171431" y="4169663"/>
            <a:ext cx="256032" cy="292608"/>
          </a:xfrm>
          <a:prstGeom prst="chevron">
            <a:avLst/>
          </a:prstGeom>
          <a:solidFill>
            <a:srgbClr val="91A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46919" y="3977639"/>
            <a:ext cx="1691640" cy="658368"/>
          </a:xfrm>
          <a:prstGeom prst="roundRect">
            <a:avLst/>
          </a:prstGeom>
          <a:solidFill>
            <a:srgbClr val="17263D"/>
          </a:solidFill>
          <a:ln>
            <a:solidFill>
              <a:srgbClr val="37C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19" y="4160520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7F9FC"/>
                </a:solidFill>
              </a:defRPr>
            </a:pPr>
            <a:r>
              <a:t>MODEL INPUT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1A2B7"/>
                </a:solidFill>
              </a:defRPr>
            </a:pPr>
            <a:r>
              <a:t>FACE MASK DETECTION USING CNN  •  SAHYADRI COLLEGE OF ENGINEERING &amp; MANAGEMENT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65760"/>
            <a:ext cx="502920" cy="54864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12064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0584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1A2B7"/>
                </a:solidFill>
              </a:defRPr>
            </a:pPr>
            <a:r>
              <a:t>Tools and technologies used in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5029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D6"/>
                </a:solidFill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383280" cy="1078992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0292" cy="1078992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63039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F7F9FC"/>
                </a:solidFill>
              </a:defRPr>
            </a:pPr>
            <a:r>
              <a:t>Python 3.x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856231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D7E1EE"/>
                </a:solidFill>
              </a:defRPr>
            </a:pPr>
            <a:r>
              <a:t>Core programming language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25880"/>
            <a:ext cx="3383280" cy="1078992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325880"/>
            <a:ext cx="50292" cy="1078992"/>
          </a:xfrm>
          <a:prstGeom prst="rect">
            <a:avLst/>
          </a:prstGeom>
          <a:solidFill>
            <a:srgbClr val="37C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463039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F7F9FC"/>
                </a:solidFill>
              </a:defRPr>
            </a:pPr>
            <a:r>
              <a:t>TensorFlow / Keras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856231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D7E1EE"/>
                </a:solidFill>
              </a:defRPr>
            </a:pPr>
            <a:r>
              <a:t>Deep-learning framework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1325880"/>
            <a:ext cx="3383280" cy="1078992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59" y="1325880"/>
            <a:ext cx="50292" cy="1078992"/>
          </a:xfrm>
          <a:prstGeom prst="rect">
            <a:avLst/>
          </a:prstGeom>
          <a:solidFill>
            <a:srgbClr val="F1B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1" y="1463039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F7F9FC"/>
                </a:solidFill>
              </a:defRPr>
            </a:pPr>
            <a:r>
              <a:t>OpenCV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1" y="1856231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D7E1EE"/>
                </a:solidFill>
              </a:defRPr>
            </a:pPr>
            <a:r>
              <a:t>Computer vision + video processing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743200"/>
            <a:ext cx="3383280" cy="1078992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2743200"/>
            <a:ext cx="50292" cy="1078992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288036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F7F9FC"/>
                </a:solidFill>
              </a:defRPr>
            </a:pPr>
            <a:r>
              <a:t>Haar Cascade / MTCNN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3273552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D7E1EE"/>
                </a:solidFill>
              </a:defRPr>
            </a:pPr>
            <a:r>
              <a:t>Face localization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2743200"/>
            <a:ext cx="3383280" cy="1078992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2743200"/>
            <a:ext cx="50292" cy="1078992"/>
          </a:xfrm>
          <a:prstGeom prst="rect">
            <a:avLst/>
          </a:prstGeom>
          <a:solidFill>
            <a:srgbClr val="37C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712" y="288036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F7F9FC"/>
                </a:solidFill>
              </a:defRPr>
            </a:pPr>
            <a:r>
              <a:t>MobileNetV2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3273552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D7E1EE"/>
                </a:solidFill>
              </a:defRPr>
            </a:pPr>
            <a:r>
              <a:t>Transfer-learning base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59" y="2743200"/>
            <a:ext cx="3383280" cy="1078992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59" y="2743200"/>
            <a:ext cx="50292" cy="1078992"/>
          </a:xfrm>
          <a:prstGeom prst="rect">
            <a:avLst/>
          </a:prstGeom>
          <a:solidFill>
            <a:srgbClr val="F1B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1" y="288036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F7F9FC"/>
                </a:solidFill>
              </a:defRPr>
            </a:pPr>
            <a:r>
              <a:t>NumPy / Pandas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1" y="3273552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D7E1EE"/>
                </a:solidFill>
              </a:defRPr>
            </a:pPr>
            <a:r>
              <a:t>Data processing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160520"/>
            <a:ext cx="3383280" cy="1078992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160520"/>
            <a:ext cx="50292" cy="1078992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" y="429768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F7F9FC"/>
                </a:solidFill>
              </a:defRPr>
            </a:pPr>
            <a:r>
              <a:t>scikit-learn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" y="4690872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D7E1EE"/>
                </a:solidFill>
              </a:defRPr>
            </a:pPr>
            <a:r>
              <a:t>Evaluation metrics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0" y="4160520"/>
            <a:ext cx="3383280" cy="1078992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89120" y="4160520"/>
            <a:ext cx="50292" cy="1078992"/>
          </a:xfrm>
          <a:prstGeom prst="rect">
            <a:avLst/>
          </a:prstGeom>
          <a:solidFill>
            <a:srgbClr val="37C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53712" y="429768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F7F9FC"/>
                </a:solidFill>
              </a:defRPr>
            </a:pPr>
            <a:r>
              <a:t>Jupyter / Colab / VS 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53712" y="4690872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D7E1EE"/>
                </a:solidFill>
              </a:defRPr>
            </a:pPr>
            <a:r>
              <a:t>Development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59" y="4160520"/>
            <a:ext cx="3383280" cy="1078992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38159" y="4160520"/>
            <a:ext cx="50292" cy="1078992"/>
          </a:xfrm>
          <a:prstGeom prst="rect">
            <a:avLst/>
          </a:prstGeom>
          <a:solidFill>
            <a:srgbClr val="F1B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02751" y="429768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F7F9FC"/>
                </a:solidFill>
              </a:defRPr>
            </a:pPr>
            <a:r>
              <a:t>Git / GitHub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2751" y="4690872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D7E1EE"/>
                </a:solidFill>
              </a:defRPr>
            </a:pPr>
            <a:r>
              <a:t>Version control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1A2B7"/>
                </a:solidFill>
              </a:defRPr>
            </a:pPr>
            <a:r>
              <a:t>FACE MASK DETECTION USING CNN  •  SAHYADRI COLLEGE OF ENGINEERING &amp;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65760"/>
            <a:ext cx="502920" cy="54864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12064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 Display"/>
              </a:defRPr>
            </a:pPr>
            <a:r>
              <a:t>Functional &amp; Non-Functional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5029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D6"/>
                </a:solidFill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49240" cy="352044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0292" cy="3520440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63039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7F9FC"/>
                </a:solidFill>
              </a:defRPr>
            </a:pPr>
            <a:r>
              <a:t>FUNCTIONAL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856231"/>
            <a:ext cx="50292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D7E1EE"/>
                </a:solidFill>
              </a:defRPr>
            </a:pPr>
            <a:r>
              <a:t>• Accept image or live webcam/video input</a:t>
            </a:r>
            <a:br/>
            <a:r>
              <a:t>• Detect and localize human faces</a:t>
            </a:r>
            <a:br/>
            <a:r>
              <a:t>• Classify mask status</a:t>
            </a:r>
            <a:br/>
            <a:r>
              <a:t>• Display labels and bounding boxes</a:t>
            </a:r>
            <a:br/>
            <a:r>
              <a:t>• Report compliant / non-compliant counts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349240" cy="352044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50292" cy="3520440"/>
          </a:xfrm>
          <a:prstGeom prst="rect">
            <a:avLst/>
          </a:prstGeom>
          <a:solidFill>
            <a:srgbClr val="37C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463039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7F9FC"/>
                </a:solidFill>
              </a:defRPr>
            </a:pPr>
            <a:r>
              <a:t>NON-FUNCTIONAL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856231"/>
            <a:ext cx="50292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D7E1EE"/>
                </a:solidFill>
              </a:defRPr>
            </a:pPr>
            <a:r>
              <a:t>• Near-real-time performance target: ≥15–20 FPS</a:t>
            </a:r>
            <a:br/>
            <a:r>
              <a:t>• Test accuracy target: ≥95%</a:t>
            </a:r>
            <a:br/>
            <a:r>
              <a:t>• Clear, interpretable visual output</a:t>
            </a:r>
            <a:br/>
            <a:r>
              <a:t>• Support standard PCs and edge devices</a:t>
            </a:r>
            <a:br/>
            <a:r>
              <a:t>• Open-source and cross-platform implementation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1A2B7"/>
                </a:solidFill>
              </a:defRPr>
            </a:pPr>
            <a:r>
              <a:t>FACE MASK DETECTION USING CNN  •  SAHYADRI COLLEGE OF ENGINEERING &amp;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65760"/>
            <a:ext cx="502920" cy="54864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12064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 Display"/>
              </a:defRPr>
            </a:pPr>
            <a:r>
              <a:t>Results &amp;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0584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1A2B7"/>
                </a:solidFill>
              </a:defRPr>
            </a:pPr>
            <a:r>
              <a:t>Performance reported on the held-out test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5029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D6"/>
                </a:solidFill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468880" cy="141732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81912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37C282"/>
                </a:solidFill>
              </a:defRPr>
            </a:pPr>
            <a:r>
              <a:t>98.2%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6712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91A2B7"/>
                </a:solidFill>
              </a:defRPr>
            </a:pPr>
            <a:r>
              <a:t>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17320"/>
            <a:ext cx="2468880" cy="141732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581912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38BDD6"/>
                </a:solidFill>
              </a:defRPr>
            </a:pPr>
            <a:r>
              <a:t>97.8%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16712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91A2B7"/>
                </a:solidFill>
              </a:defRPr>
            </a:pPr>
            <a:r>
              <a:t>Precision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417320"/>
            <a:ext cx="2468880" cy="141732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581912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F1BB43"/>
                </a:solidFill>
              </a:defRPr>
            </a:pPr>
            <a:r>
              <a:t>98.0%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16712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91A2B7"/>
                </a:solidFill>
              </a:defRPr>
            </a:pPr>
            <a:r>
              <a:t>Recall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1417320"/>
            <a:ext cx="2468880" cy="141732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1581912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37C282"/>
                </a:solidFill>
              </a:defRPr>
            </a:pPr>
            <a:r>
              <a:t>97.9%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16712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91A2B7"/>
                </a:solidFill>
              </a:defRPr>
            </a:pPr>
            <a:r>
              <a:t>F1-score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337560"/>
            <a:ext cx="5257800" cy="155448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337560"/>
            <a:ext cx="50292" cy="1554480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47472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7F9FC"/>
                </a:solidFill>
              </a:defRPr>
            </a:pPr>
            <a:r>
              <a:t>TRAINING OBSERVATION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3867911"/>
            <a:ext cx="493776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7E1EE"/>
                </a:solidFill>
              </a:defRPr>
            </a:pPr>
            <a:r>
              <a:t>The training and validation accuracy/loss curves indicated convergence without significant overfitting.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337560"/>
            <a:ext cx="5257800" cy="155448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337560"/>
            <a:ext cx="50292" cy="1554480"/>
          </a:xfrm>
          <a:prstGeom prst="rect">
            <a:avLst/>
          </a:prstGeom>
          <a:solidFill>
            <a:srgbClr val="37C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347472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7F9FC"/>
                </a:solidFill>
              </a:defRPr>
            </a:pPr>
            <a:r>
              <a:t>REAL-TIME OBSERVATION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3867911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7E1EE"/>
                </a:solidFill>
              </a:defRPr>
            </a:pPr>
            <a:r>
              <a:t>Webcam testing showed faces being detected and classified with bounding boxes and labels updating smoothly across frames.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1A2B7"/>
                </a:solidFill>
              </a:defRPr>
            </a:pPr>
            <a:r>
              <a:t>FACE MASK DETECTION USING CNN  •  SAHYADRI COLLEGE OF ENGINEERING &amp; MANAGEMENT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510" y="0"/>
            <a:ext cx="12191695" cy="6858000"/>
          </a:xfrm>
          <a:prstGeom prst="rect">
            <a:avLst/>
          </a:prstGeom>
          <a:solidFill>
            <a:srgbClr val="081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s</a:t>
            </a:r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566928" y="365760"/>
            <a:ext cx="502920" cy="54864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12064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 Display"/>
              </a:defRPr>
            </a:pPr>
            <a:r>
              <a:t>Application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5029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D6"/>
                </a:solidFill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3337560" cy="3794760"/>
          </a:xfrm>
          <a:prstGeom prst="roundRect">
            <a:avLst/>
          </a:prstGeom>
          <a:solidFill>
            <a:srgbClr val="F2F5F9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ome.png"/>
          <p:cNvPicPr>
            <a:picLocks noChangeAspect="1"/>
          </p:cNvPicPr>
          <p:nvPr/>
        </p:nvPicPr>
        <p:blipFill>
          <a:blip r:embed="rId1"/>
          <a:srcRect l="-3819" t="22790" r="3819" b="16306"/>
          <a:stretch>
            <a:fillRect/>
          </a:stretch>
        </p:blipFill>
        <p:spPr>
          <a:xfrm>
            <a:off x="502920" y="1764030"/>
            <a:ext cx="3108960" cy="30086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257800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7F9FC"/>
                </a:solidFill>
              </a:defRPr>
            </a:pPr>
            <a:r>
              <a:t>Home / Model Online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325880"/>
            <a:ext cx="3337560" cy="3794760"/>
          </a:xfrm>
          <a:prstGeom prst="roundRect">
            <a:avLst/>
          </a:prstGeom>
          <a:solidFill>
            <a:srgbClr val="F2F5F9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pload.png"/>
          <p:cNvPicPr>
            <a:picLocks noChangeAspect="1"/>
          </p:cNvPicPr>
          <p:nvPr/>
        </p:nvPicPr>
        <p:blipFill>
          <a:blip r:embed="rId2"/>
          <a:srcRect l="4034" t="5513" r="-266" b="15664"/>
          <a:stretch>
            <a:fillRect/>
          </a:stretch>
        </p:blipFill>
        <p:spPr>
          <a:xfrm>
            <a:off x="4304030" y="1521460"/>
            <a:ext cx="2983865" cy="3251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69080" y="5257800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7F9FC"/>
                </a:solidFill>
              </a:defRPr>
            </a:pPr>
            <a:r>
              <a:t>Image Upload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325880"/>
            <a:ext cx="3337560" cy="3794760"/>
          </a:xfrm>
          <a:prstGeom prst="roundRect">
            <a:avLst/>
          </a:prstGeom>
          <a:solidFill>
            <a:srgbClr val="F2F5F9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nomask.png"/>
          <p:cNvPicPr>
            <a:picLocks noChangeAspect="1"/>
          </p:cNvPicPr>
          <p:nvPr/>
        </p:nvPicPr>
        <p:blipFill>
          <a:blip r:embed="rId3"/>
          <a:srcRect t="11742" b="12444"/>
          <a:stretch>
            <a:fillRect/>
          </a:stretch>
        </p:blipFill>
        <p:spPr>
          <a:xfrm>
            <a:off x="7745095" y="1521460"/>
            <a:ext cx="3108960" cy="323786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35240" y="5257800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7F9FC"/>
                </a:solidFill>
              </a:defRPr>
            </a:pPr>
            <a:r>
              <a:t>No-Mask Detection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5806440"/>
            <a:ext cx="2788920" cy="384048"/>
          </a:xfrm>
          <a:prstGeom prst="roundRect">
            <a:avLst/>
          </a:prstGeom>
          <a:solidFill>
            <a:srgbClr val="37C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5861303"/>
            <a:ext cx="2788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8101D"/>
                </a:solidFill>
              </a:defRPr>
            </a:pPr>
            <a:r>
              <a:t>MASK / NO-MASK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1A2B7"/>
                </a:solidFill>
              </a:defRPr>
            </a:pPr>
            <a:r>
              <a:t>FACE MASK DETECTION USING CNN  •  SAHYADRI COLLEGE OF ENGINEERING &amp; MANAGEMENT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65760"/>
            <a:ext cx="502920" cy="54864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12064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 Display"/>
              </a:defRPr>
            </a:pPr>
            <a:r>
              <a:t>Detection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5029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D6"/>
                </a:solidFill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25880"/>
            <a:ext cx="4846320" cy="3886200"/>
          </a:xfrm>
          <a:prstGeom prst="roundRect">
            <a:avLst/>
          </a:prstGeom>
          <a:solidFill>
            <a:srgbClr val="F2F5F9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sk.png"/>
          <p:cNvPicPr>
            <a:picLocks noChangeAspect="1"/>
          </p:cNvPicPr>
          <p:nvPr/>
        </p:nvPicPr>
        <p:blipFill>
          <a:blip r:embed="rId1"/>
          <a:srcRect t="9666" b="47616"/>
          <a:stretch>
            <a:fillRect/>
          </a:stretch>
        </p:blipFill>
        <p:spPr>
          <a:xfrm>
            <a:off x="1271270" y="2230120"/>
            <a:ext cx="4216400" cy="14452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240280" y="5349240"/>
            <a:ext cx="2194560" cy="384048"/>
          </a:xfrm>
          <a:prstGeom prst="roundRect">
            <a:avLst/>
          </a:prstGeom>
          <a:solidFill>
            <a:srgbClr val="37C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5404103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8101D"/>
                </a:solidFill>
              </a:defRPr>
            </a:pPr>
            <a:r>
              <a:t>MASK DETECTED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25880"/>
            <a:ext cx="4846320" cy="3886200"/>
          </a:xfrm>
          <a:prstGeom prst="roundRect">
            <a:avLst/>
          </a:prstGeom>
          <a:solidFill>
            <a:srgbClr val="F2F5F9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nomask.png"/>
          <p:cNvPicPr>
            <a:picLocks noChangeAspect="1"/>
          </p:cNvPicPr>
          <p:nvPr/>
        </p:nvPicPr>
        <p:blipFill>
          <a:blip r:embed="rId2"/>
          <a:srcRect l="10597" t="12004" r="13625" b="14247"/>
          <a:stretch>
            <a:fillRect/>
          </a:stretch>
        </p:blipFill>
        <p:spPr>
          <a:xfrm>
            <a:off x="7022465" y="1745615"/>
            <a:ext cx="3464560" cy="260985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726679" y="5349240"/>
            <a:ext cx="2194560" cy="384048"/>
          </a:xfrm>
          <a:prstGeom prst="roundRect">
            <a:avLst/>
          </a:prstGeom>
          <a:solidFill>
            <a:srgbClr val="E85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5404103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8101D"/>
                </a:solidFill>
              </a:defRPr>
            </a:pPr>
            <a:r>
              <a:t>NO MASK DETECTED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1A2B7"/>
                </a:solidFill>
              </a:defRPr>
            </a:pPr>
            <a:r>
              <a:t>FACE MASK DETECTION USING CNN  •  SAHYADRI COLLEGE OF ENGINEERING &amp; MANAGEMENT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65760"/>
            <a:ext cx="502920" cy="54864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12064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 Display"/>
              </a:defRPr>
            </a:pPr>
            <a:r>
              <a:t>Societal Impact &amp; SDG 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56010" y="502920"/>
            <a:ext cx="31115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D6"/>
                </a:solidFill>
              </a:defRPr>
            </a:pPr>
            <a:r>
              <a:t>1</a:t>
            </a:r>
            <a:r>
              <a:rPr lang="en-IN"/>
              <a:t>3</a:t>
            </a:r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03520" cy="182880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0292" cy="1828800"/>
          </a:xfrm>
          <a:prstGeom prst="rect">
            <a:avLst/>
          </a:prstGeom>
          <a:solidFill>
            <a:srgbClr val="37C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63039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7F9FC"/>
                </a:solidFill>
              </a:defRPr>
            </a:pPr>
            <a:r>
              <a:t>SOCIETAL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856231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D7E1EE"/>
                </a:solidFill>
              </a:defRPr>
            </a:pPr>
            <a:r>
              <a:t>Supports public-health compliance in hospitals, transportation hubs, educational institutions and workplaces while reducing the burden of constant manual monitoring.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03520" cy="182880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325880"/>
            <a:ext cx="50292" cy="1828800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463039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7F9FC"/>
                </a:solidFill>
              </a:defRPr>
            </a:pPr>
            <a:r>
              <a:t>EXTENSION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856231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D7E1EE"/>
                </a:solidFill>
              </a:defRPr>
            </a:pPr>
            <a:r>
              <a:t>The same computer-vision approach can support other safety-compliance scenarios, including helmets and safety goggles.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57600"/>
            <a:ext cx="3429000" cy="160020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657600"/>
            <a:ext cx="50292" cy="1600200"/>
          </a:xfrm>
          <a:prstGeom prst="rect">
            <a:avLst/>
          </a:prstGeom>
          <a:solidFill>
            <a:srgbClr val="37C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37947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7F9FC"/>
                </a:solidFill>
              </a:defRPr>
            </a:pPr>
            <a:r>
              <a:t>SDG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4187952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>
                <a:solidFill>
                  <a:srgbClr val="D7E1EE"/>
                </a:solidFill>
              </a:defRPr>
            </a:pPr>
            <a:r>
              <a:t>Good Health &amp; Well-Being</a:t>
            </a:r>
            <a:br/>
            <a:r>
              <a:t>Public-health compliance and reduced transmission risk.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657600"/>
            <a:ext cx="3429000" cy="160020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3657600"/>
            <a:ext cx="50292" cy="1600200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37947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7F9FC"/>
                </a:solidFill>
              </a:defRPr>
            </a:pPr>
            <a:r>
              <a:t>SDG 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4187952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>
                <a:solidFill>
                  <a:srgbClr val="D7E1EE"/>
                </a:solidFill>
              </a:defRPr>
            </a:pPr>
            <a:r>
              <a:t>Industry, Innovation &amp; Infrastructure</a:t>
            </a:r>
            <a:br/>
            <a:r>
              <a:t>AI-based automation for public-safety infrastructure.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657600"/>
            <a:ext cx="3429000" cy="160020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3657600"/>
            <a:ext cx="50292" cy="1600200"/>
          </a:xfrm>
          <a:prstGeom prst="rect">
            <a:avLst/>
          </a:prstGeom>
          <a:solidFill>
            <a:srgbClr val="F1B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37947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7F9FC"/>
                </a:solidFill>
              </a:defRPr>
            </a:pPr>
            <a:r>
              <a:t>SDG 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4187952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>
                <a:solidFill>
                  <a:srgbClr val="D7E1EE"/>
                </a:solidFill>
              </a:defRPr>
            </a:pPr>
            <a:r>
              <a:t>Sustainable Cities &amp; Communities</a:t>
            </a:r>
            <a:br/>
            <a:r>
              <a:t>Smarter, safer public spaces using existing infrastructure.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1A2B7"/>
                </a:solidFill>
              </a:defRPr>
            </a:pPr>
            <a:r>
              <a:t>FACE MASK DETECTION USING CNN  •  SAHYADRI COLLEGE OF ENGINEERING &amp; MANAGEMENT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65760"/>
            <a:ext cx="502920" cy="54864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12064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 Display"/>
              </a:defRPr>
            </a:pPr>
            <a: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0584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1A2B7"/>
                </a:solidFill>
              </a:defRPr>
            </a:pPr>
            <a:r>
              <a:t>Where the project stands and how it can evolve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56010" y="502920"/>
            <a:ext cx="31115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D6"/>
                </a:solidFill>
              </a:defRPr>
            </a:pPr>
            <a:r>
              <a:t>1</a:t>
            </a:r>
            <a:r>
              <a:rPr lang="en-IN"/>
              <a:t>4</a:t>
            </a:r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49240" cy="315468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0292" cy="3154680"/>
          </a:xfrm>
          <a:prstGeom prst="rect">
            <a:avLst/>
          </a:prstGeom>
          <a:solidFill>
            <a:srgbClr val="37C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63039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7F9FC"/>
                </a:solidFill>
              </a:defRPr>
            </a:pPr>
            <a: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856231"/>
            <a:ext cx="50292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7E1EE"/>
                </a:solidFill>
              </a:defRPr>
            </a:pPr>
            <a:r>
              <a:t>The project implements a CNN-based face-mask detection system for static images and real-time video. The report demonstrates high classification performance while targeting low-latency practical deployment.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349240" cy="3154680"/>
          </a:xfrm>
          <a:prstGeom prst="roundRect">
            <a:avLst/>
          </a:prstGeom>
          <a:solidFill>
            <a:srgbClr val="121E31"/>
          </a:solidFill>
          <a:ln>
            <a:solidFill>
              <a:srgbClr val="2E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50292" cy="3154680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463039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7F9FC"/>
                </a:solidFill>
              </a:defRPr>
            </a:pPr>
            <a:r>
              <a:t>FUTURE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856231"/>
            <a:ext cx="50292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D7E1EE"/>
                </a:solidFill>
              </a:defRPr>
            </a:pPr>
            <a:r>
              <a:t>• Multi-camera and multi-person tracking</a:t>
            </a:r>
            <a:br/>
            <a:r>
              <a:t>• Centralized dashboard reporting</a:t>
            </a:r>
            <a:br/>
            <a:r>
              <a:t>• Integration with facial recognition and temperature screening</a:t>
            </a:r>
            <a:br/>
            <a:r>
              <a:t>• Model quantization / pruning for edge devices</a:t>
            </a:r>
            <a:br/>
            <a:r>
              <a:t>• Larger and more diverse datasets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1A2B7"/>
                </a:solidFill>
              </a:defRPr>
            </a:pPr>
            <a:r>
              <a:t>FACE MASK DETECTION USING CNN  •  SAHYADRI COLLEGE OF ENGINEERING &amp; MANAGEMENT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90" y="0"/>
            <a:ext cx="12191695" cy="6858000"/>
          </a:xfrm>
          <a:prstGeom prst="rect">
            <a:avLst/>
          </a:prstGeom>
          <a:solidFill>
            <a:srgbClr val="081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65760"/>
            <a:ext cx="502920" cy="54864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12064"/>
            <a:ext cx="1835150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56010" y="502920"/>
            <a:ext cx="31115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D6"/>
                </a:solidFill>
              </a:defRPr>
            </a:pPr>
            <a:r>
              <a:t>1</a:t>
            </a:r>
            <a:r>
              <a:rPr lang="en-IN"/>
              <a:t>5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5212080" cy="3553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D7E1EE"/>
                </a:solidFill>
              </a:defRPr>
            </a:pPr>
            <a:r>
              <a:rPr lang="en-US" altLang="en-US"/>
              <a:t>[1] M. Loey, G. Manogaran, M. H. N. Taha, and N. E. M. Khalifa, "A hybrid deep transfer learning model with machine learning methods for face mask detection in the era of the COVID-19 pandemic," Measurement, vol. 167, 2021.</a:t>
            </a:r>
            <a:endParaRPr lang="en-US" altLang="en-US"/>
          </a:p>
          <a:p>
            <a:pPr>
              <a:spcAft>
                <a:spcPts val="900"/>
              </a:spcAft>
              <a:defRPr sz="1200">
                <a:solidFill>
                  <a:srgbClr val="D7E1EE"/>
                </a:solidFill>
              </a:defRPr>
            </a:pPr>
            <a:r>
              <a:rPr lang="en-US" altLang="en-US"/>
              <a:t>[2] S. V. Militante and N. V. Dionisio, "Real-Time Facemask Recognition with Alarm System</a:t>
            </a:r>
            <a:endParaRPr lang="en-US" altLang="en-US"/>
          </a:p>
          <a:p>
            <a:pPr>
              <a:spcAft>
                <a:spcPts val="900"/>
              </a:spcAft>
              <a:defRPr sz="1200">
                <a:solidFill>
                  <a:srgbClr val="D7E1EE"/>
                </a:solidFill>
              </a:defRPr>
            </a:pPr>
            <a:r>
              <a:rPr lang="en-US" altLang="en-US"/>
              <a:t>using Deep Learning," in Proc. ICSGRC, 2020.</a:t>
            </a:r>
            <a:endParaRPr lang="en-US" altLang="en-US"/>
          </a:p>
          <a:p>
            <a:pPr>
              <a:spcAft>
                <a:spcPts val="900"/>
              </a:spcAft>
              <a:defRPr sz="1200">
                <a:solidFill>
                  <a:srgbClr val="D7E1EE"/>
                </a:solidFill>
              </a:defRPr>
            </a:pPr>
            <a:r>
              <a:rPr lang="en-US" altLang="en-US"/>
              <a:t>[3] X. Jiang, T. Gao, Z. Zhu, and Y. Zhao, "Retina Face Mask: A Face Mask Detector," arXiv</a:t>
            </a:r>
            <a:endParaRPr lang="en-US" altLang="en-US"/>
          </a:p>
          <a:p>
            <a:pPr>
              <a:spcAft>
                <a:spcPts val="900"/>
              </a:spcAft>
              <a:defRPr sz="1200">
                <a:solidFill>
                  <a:srgbClr val="D7E1EE"/>
                </a:solidFill>
              </a:defRPr>
            </a:pPr>
            <a:r>
              <a:rPr lang="en-US" altLang="en-US"/>
              <a:t>preprint arXiv:2005.03950, 2020.</a:t>
            </a:r>
            <a:endParaRPr lang="en-US" altLang="en-US"/>
          </a:p>
          <a:p>
            <a:pPr>
              <a:spcAft>
                <a:spcPts val="900"/>
              </a:spcAft>
              <a:defRPr sz="1200">
                <a:solidFill>
                  <a:srgbClr val="D7E1EE"/>
                </a:solidFill>
              </a:defRPr>
            </a:pPr>
            <a:r>
              <a:rPr lang="en-US" altLang="en-US"/>
              <a:t>[4] B. Qin and D. Li, "Identifying Facemask-Wearing Condition Using Image Super-Resolution with Classification Network to Prevent COVID-19," Sensors, vol. 20, no. 18, 2020.</a:t>
            </a:r>
            <a:endParaRPr lang="en-US" altLang="en-US"/>
          </a:p>
          <a:p>
            <a:pPr>
              <a:spcAft>
                <a:spcPts val="900"/>
              </a:spcAft>
              <a:defRPr sz="1200">
                <a:solidFill>
                  <a:srgbClr val="D7E1EE"/>
                </a:solidFill>
              </a:defRPr>
            </a:pPr>
            <a:r>
              <a:rPr lang="en-US" altLang="en-US"/>
              <a:t>[5] G. J. Chowdary, N. S. Punn, S. K. Sonbhadra, and S. Agarwal, "Face Mask Detection Using Transfer Learning of InceptionV3," in Proc. Big Data Analytics (BDA), 2020.</a:t>
            </a:r>
            <a:endParaRPr lang="en-US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217920" y="1325880"/>
            <a:ext cx="5212080" cy="276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D7E1EE"/>
                </a:solidFill>
              </a:defRPr>
            </a:pPr>
            <a:r>
              <a:rPr lang="en-US" altLang="en-US"/>
              <a:t>[6] P. Nagrath, R. Jain, A. Madan, R. Arora, P. Kataria, and J. Hemanth, "SSDMNV2: A rea</a:t>
            </a:r>
            <a:r>
              <a:rPr lang="en-IN" altLang="en-US"/>
              <a:t>l </a:t>
            </a:r>
            <a:r>
              <a:rPr lang="en-US" altLang="en-US"/>
              <a:t>time DNN-based face mask detection system using single shot multibox detector and MobileNetV2," Sustainable Cities and Society, vol. 66, 2021.</a:t>
            </a:r>
            <a:endParaRPr lang="en-US" altLang="en-US"/>
          </a:p>
          <a:p>
            <a:pPr>
              <a:spcAft>
                <a:spcPts val="900"/>
              </a:spcAft>
              <a:defRPr sz="1200">
                <a:solidFill>
                  <a:srgbClr val="D7E1EE"/>
                </a:solidFill>
              </a:defRPr>
            </a:pPr>
            <a:r>
              <a:rPr lang="en-US" altLang="en-US"/>
              <a:t>[7] A. Das, M. W. Ansari, and R. Basak, "COVID-19 Face Mask Detection Using TensorFlow, Keras and OpenCV," in Proc. IEEE INDICON, 2020.</a:t>
            </a:r>
            <a:endParaRPr lang="en-US" altLang="en-US"/>
          </a:p>
          <a:p>
            <a:pPr>
              <a:spcAft>
                <a:spcPts val="900"/>
              </a:spcAft>
              <a:defRPr sz="1200">
                <a:solidFill>
                  <a:srgbClr val="D7E1EE"/>
                </a:solidFill>
              </a:defRPr>
            </a:pPr>
            <a:r>
              <a:rPr lang="en-US" altLang="en-US"/>
              <a:t>[8] S. Sethi, M. Kathuria, and T. Kaushik, "Face Mask Detection Using Deep Learning: A</a:t>
            </a:r>
            <a:r>
              <a:rPr lang="en-IN" altLang="en-US"/>
              <a:t>n </a:t>
            </a:r>
            <a:r>
              <a:rPr lang="en-US" altLang="en-US"/>
              <a:t>Approach to Reduce Risk of Coronavirus Spread," Journal of Biomedical Informatics, vol. 120, 2021.</a:t>
            </a:r>
            <a:endParaRPr lang="en-US" altLang="en-US"/>
          </a:p>
          <a:p>
            <a:pPr>
              <a:spcAft>
                <a:spcPts val="900"/>
              </a:spcAft>
              <a:defRPr sz="1200">
                <a:solidFill>
                  <a:srgbClr val="D7E1EE"/>
                </a:solidFill>
              </a:defRPr>
            </a:pPr>
            <a:r>
              <a:rPr lang="en-US" altLang="en-US"/>
              <a:t>[9] Z. Wang et al., "Masked Face Recognition Dataset and Application," arXiv preprint</a:t>
            </a:r>
            <a:r>
              <a:rPr lang="en-IN" altLang="en-US"/>
              <a:t> </a:t>
            </a:r>
            <a:r>
              <a:rPr lang="en-US" altLang="en-US"/>
              <a:t>arXiv:2003.09093, 2020.</a:t>
            </a:r>
            <a:endParaRPr lang="en-US" altLang="en-US"/>
          </a:p>
          <a:p>
            <a:pPr>
              <a:spcAft>
                <a:spcPts val="900"/>
              </a:spcAft>
              <a:defRPr sz="1200">
                <a:solidFill>
                  <a:srgbClr val="D7E1EE"/>
                </a:solidFill>
              </a:defRPr>
            </a:pPr>
            <a:r>
              <a:rPr lang="en-US" altLang="en-US"/>
              <a:t>[10] S. Bhandary and D. Nagaraj, "Deep Learning based Face Mask Detection Using YOLOv5," in Proc. ICACCS, 2021.</a:t>
            </a:r>
            <a:endParaRPr lang="en-US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566928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1A2B7"/>
                </a:solidFill>
              </a:defRPr>
            </a:pPr>
            <a:r>
              <a:t>FACE MASK DETECTION USING CNN  •  SAHYADRI COLLEGE OF ENGINEERING &amp; MANAGEMENT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7780" y="0"/>
            <a:ext cx="12191695" cy="6858000"/>
          </a:xfrm>
          <a:prstGeom prst="rect">
            <a:avLst/>
          </a:prstGeom>
          <a:solidFill>
            <a:srgbClr val="081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40680" y="914400"/>
            <a:ext cx="1280160" cy="73152"/>
          </a:xfrm>
          <a:prstGeom prst="rect">
            <a:avLst/>
          </a:prstGeom>
          <a:solidFill>
            <a:srgbClr val="38B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61235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7F9FC"/>
                </a:solidFill>
                <a:latin typeface="Aptos Display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8745</Words>
  <Application>WPS Presentation</Application>
  <PresentationFormat>On-screen Show (4:3)</PresentationFormat>
  <Paragraphs>362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SimSun</vt:lpstr>
      <vt:lpstr>Wingdings</vt:lpstr>
      <vt:lpstr>Arial</vt:lpstr>
      <vt:lpstr>Aptos Display</vt:lpstr>
      <vt:lpstr>Segoe UI Variable Display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Amaresha K</cp:lastModifiedBy>
  <cp:revision>5</cp:revision>
  <dcterms:created xsi:type="dcterms:W3CDTF">2013-01-27T09:14:00Z</dcterms:created>
  <dcterms:modified xsi:type="dcterms:W3CDTF">2026-09-20T15:54:33Z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919F9F39904B4E36B5E10DD268184BBF_12</vt:lpwstr>
  </property>
</Properties>
</file>